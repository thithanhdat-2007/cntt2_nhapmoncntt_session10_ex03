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đúng hạn (%)</c:v>
                </c:pt>
              </c:strCache>
            </c:strRef>
          </c:tx>
          <c:dPt>
            <c:idx val="0"/>
            <c:spPr>
              <a:solidFill>
                <a:srgbClr val="DC2626"/>
              </a:solidFill>
            </c:spPr>
          </c:dPt>
          <c:dPt>
            <c:idx val="1"/>
            <c:spPr>
              <a:solidFill>
                <a:srgbClr val="1E3A8A"/>
              </a:solidFill>
            </c:spPr>
          </c:dPt>
          <c:dPt>
            <c:idx val="2"/>
            <c:spPr>
              <a:solidFill>
                <a:srgbClr val="1E3A8A"/>
              </a:solidFill>
            </c:spPr>
          </c:dPt>
          <c:dPt>
            <c:idx val="3"/>
            <c:spPr>
              <a:solidFill>
                <a:srgbClr val="1E3A8A"/>
              </a:solidFill>
            </c:spPr>
          </c:dPt>
          <c:dPt>
            <c:idx val="4"/>
            <c:spPr>
              <a:solidFill>
                <a:srgbClr val="1E3A8A"/>
              </a:solidFill>
            </c:spPr>
          </c:dPt>
          <c:dPt>
            <c:idx val="5"/>
            <c:spPr>
              <a:solidFill>
                <a:srgbClr val="EA580C"/>
              </a:solidFill>
            </c:spPr>
          </c:dPt>
          <c:cat>
            <c:strRef>
              <c:f>Sheet1!$A$2:$A$7</c:f>
              <c:strCache>
                <c:ptCount val="6"/>
                <c:pt idx="0">
                  <c:v>Trạm Bình Tân (81.6%)</c:v>
                </c:pt>
                <c:pt idx="1">
                  <c:v>Trạm Tân Bình (90.0%)</c:v>
                </c:pt>
                <c:pt idx="2">
                  <c:v>Trạm Bình Thạnh (91.0%)</c:v>
                </c:pt>
                <c:pt idx="3">
                  <c:v>Trạm Quận 7 (92.4%)</c:v>
                </c:pt>
                <c:pt idx="4">
                  <c:v>Trạm Quận 1 (93.4%)</c:v>
                </c:pt>
                <c:pt idx="5">
                  <c:v>Trạm Thủ Đức (98.0%)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81.6</c:v>
                </c:pt>
                <c:pt idx="1">
                  <c:v>90.0</c:v>
                </c:pt>
                <c:pt idx="2">
                  <c:v>91.0</c:v>
                </c:pt>
                <c:pt idx="3">
                  <c:v>92.4</c:v>
                </c:pt>
                <c:pt idx="4">
                  <c:v>93.4</c:v>
                </c:pt>
                <c:pt idx="5">
                  <c:v>98.0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3600" b="1">
                <a:solidFill>
                  <a:srgbClr val="F8FAFC"/>
                </a:solidFill>
                <a:latin typeface="Calibri"/>
              </a:rPr>
              <a:t>Tự Động Hóa Tra Cứu Giá Cước Và Hướng Dẫn Shipper FastMove</a:t>
            </a:r>
          </a:p>
          <a:p>
            <a:r>
              <a:rPr sz="2000">
                <a:solidFill>
                  <a:srgbClr val="FDBA74"/>
                </a:solidFill>
                <a:latin typeface="Calibri"/>
              </a:rPr>
              <a:t>Giải pháp khắc phục 16 giờ chậm trễ mỗi ngày tại kho vận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Calibri"/>
              </a:rPr>
              <a:t>Thi Thành Đạt | MSSV: N26DTCN041 | Lớp: CNTT2 | Session10_Ex03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Calibri"/>
              </a:rPr>
              <a:t>PHÂN TÍCH HIỆN TRẠNG KHO VẬN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Tra cứu thủ công làm FastMove mất 16 giờ mỗi ngày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Dò giá thủ công gây ùn ứ: </a:t>
            </a:r>
            <a:r>
              <a:rPr sz="1600">
                <a:solidFill>
                  <a:srgbClr val="475569"/>
                </a:solidFill>
                <a:latin typeface="Calibri"/>
              </a:rPr>
              <a:t>Nhân viên tra sổ tay từng đơn làm chậm xuất kho 16 tiếng mỗi ngày.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Lỗi #N/A làm sai lệch tổng cước: </a:t>
            </a:r>
            <a:r>
              <a:rPr sz="1600">
                <a:solidFill>
                  <a:srgbClr val="475569"/>
                </a:solidFill>
                <a:latin typeface="Calibri"/>
              </a:rPr>
              <a:t>Mã vận đơn dính ký tự lạ (#, @, *) khiến hàm tính tổng bị gián đoạn.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Hướng dẫn cũ quá dài dòng: </a:t>
            </a:r>
            <a:r>
              <a:rPr sz="1600">
                <a:solidFill>
                  <a:srgbClr val="475569"/>
                </a:solidFill>
                <a:latin typeface="Calibri"/>
              </a:rPr>
              <a:t>Shipper mất nhiều thời gian đối chiếu thủ công khi nhận bàn giao đơn.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Nguồn: Bối cảnh thực tế tại kho FastMove (Session 10 - Ex 03)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Calibri"/>
              </a:rPr>
              <a:t>CHUẨN HÓA HƯỚNG DẪN NHẬN ĐƠN TẠI KHO (TỐI ĐA 3 - 4 Ý CHÍNH)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Shipper hoàn tất nhận đơn trong 5 phút nhờ quy trình 3 bước theo Miller's Law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32918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A580C"/>
                </a:solidFill>
                <a:latin typeface="Calibri"/>
              </a:rPr>
              <a:t>Bước 1: Quét Mã Nhận Hàng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Quét mã vạch: </a:t>
            </a:r>
            <a:r>
              <a:rPr sz="1600">
                <a:solidFill>
                  <a:srgbClr val="475569"/>
                </a:solidFill>
                <a:latin typeface="Calibri"/>
              </a:rPr>
              <a:t>Dùng ứng dụng quét mã vận đơn tại quầy bàn giao.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Kiểm tra kiện hàng: </a:t>
            </a:r>
            <a:r>
              <a:rPr sz="1600">
                <a:solidFill>
                  <a:srgbClr val="475569"/>
                </a:solidFill>
                <a:latin typeface="Calibri"/>
              </a:rPr>
              <a:t>Đảm bảo thùng hàng nguyên vẹn, không rách móp.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32918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A580C"/>
                </a:solidFill>
                <a:latin typeface="Calibri"/>
              </a:rPr>
              <a:t>Bước 2: Đối Chiếu Giá Cước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Tự động lấy giá: </a:t>
            </a:r>
            <a:r>
              <a:rPr sz="1600">
                <a:solidFill>
                  <a:srgbClr val="475569"/>
                </a:solidFill>
                <a:latin typeface="Calibri"/>
              </a:rPr>
              <a:t>Bảng tính VLOOKUP tự động hiển thị cước phí chuẩn.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Tách đơn lỗi mã: </a:t>
            </a:r>
            <a:r>
              <a:rPr sz="1600">
                <a:solidFill>
                  <a:srgbClr val="475569"/>
                </a:solidFill>
                <a:latin typeface="Calibri"/>
              </a:rPr>
              <a:t>Báo ngay nhân viên kho nếu đơn hiện trạng thái lỗi.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3291839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EA580C"/>
                </a:solidFill>
                <a:latin typeface="Calibri"/>
              </a:rPr>
              <a:t>Bước 3: Xác Nhận Xuất Bến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Ký nhận bàn giao: </a:t>
            </a:r>
            <a:r>
              <a:rPr sz="1600">
                <a:solidFill>
                  <a:srgbClr val="475569"/>
                </a:solidFill>
                <a:latin typeface="Calibri"/>
              </a:rPr>
              <a:t>Xác nhận đủ số lượng kiện hàng theo tuyến giao.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Bắt đầu lộ trình: </a:t>
            </a:r>
            <a:r>
              <a:rPr sz="1600">
                <a:solidFill>
                  <a:srgbClr val="475569"/>
                </a:solidFill>
                <a:latin typeface="Calibri"/>
              </a:rPr>
              <a:t>Bấm xác nhận đi giao trên ứng dụng FastMove.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Áp dụng định luật Miller's Law: Chia quy trình thành 3 cụm thông tin giúp Shipper nhớ ngay.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Calibri"/>
              </a:rPr>
              <a:t>BÁO CÁO HIỆU SUẤT GIAO HÀNG (KPI) - SỐ LIỆU GIẢ ĐỊNH MINH HỌA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Trạm Thủ Đức dẫn đầu tỷ lệ đúng hạn (98.0%), Bình Tân cần hỗ trợ khi chỉ đạt 81.6%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Điểm sáng Thủ Đức (98.0%): </a:t>
            </a:r>
            <a:r>
              <a:rPr sz="1600">
                <a:solidFill>
                  <a:srgbClr val="475569"/>
                </a:solidFill>
                <a:latin typeface="Calibri"/>
              </a:rPr>
              <a:t>Vượt chỉ tiêu KPI 92.0% nhờ phân luồng tự động bằng VLOOKUP.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Điểm nghẽn Bình Tân (81.6%): </a:t>
            </a:r>
            <a:r>
              <a:rPr sz="1600">
                <a:solidFill>
                  <a:srgbClr val="475569"/>
                </a:solidFill>
                <a:latin typeface="Calibri"/>
              </a:rPr>
              <a:t>Thấp hơn chuẩn 10.4% do tỷ lệ đơn lỗi mã vạch cần xử lý lại cao.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172A"/>
                </a:solidFill>
                <a:latin typeface="Calibri"/>
              </a:rPr>
              <a:t>Giải pháp điều phối ngay: </a:t>
            </a:r>
            <a:r>
              <a:rPr sz="1600">
                <a:solidFill>
                  <a:srgbClr val="475569"/>
                </a:solidFill>
                <a:latin typeface="Calibri"/>
              </a:rPr>
              <a:t>Trang bị thêm máy quét và dùng hàm IFERROR lọc nhanh đơn lỗi.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120640" y="2011680"/>
          <a:ext cx="63093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Calibri"/>
              </a:rPr>
              <a:t>Ghi chú: Tiêu đề đặt dạng kết luận và Bar Chart highlight trực tiếp 2 trạm trọng điểm.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3400" b="1">
                <a:solidFill>
                  <a:srgbClr val="F8FAFC"/>
                </a:solidFill>
                <a:latin typeface="Calibri"/>
              </a:rPr>
              <a:t>Dữ Liệu Chuẩn Hóa Giúp FastMove Giao Nhanh Hơn Mỗi Ngày</a:t>
            </a:r>
          </a:p>
          <a:p>
            <a:r>
              <a:rPr sz="2000">
                <a:solidFill>
                  <a:srgbClr val="FDBA74"/>
                </a:solidFill>
                <a:latin typeface="Calibri"/>
              </a:rPr>
              <a:t>Em xin cảm ơn Giảng viên đã xem xét bài làm.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Calibri"/>
              </a:rPr>
              <a:t>Thi Thành Đạt | N26DTCN041 | thithanhdat111@gmail.com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